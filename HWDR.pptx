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5" r:id="rId2"/>
    <p:sldId id="258" r:id="rId3"/>
    <p:sldId id="259" r:id="rId4"/>
    <p:sldId id="257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9" r:id="rId13"/>
    <p:sldId id="270" r:id="rId14"/>
    <p:sldId id="271" r:id="rId15"/>
    <p:sldId id="272" r:id="rId16"/>
    <p:sldId id="273" r:id="rId17"/>
    <p:sldId id="274" r:id="rId18"/>
    <p:sldId id="280" r:id="rId19"/>
    <p:sldId id="281" r:id="rId20"/>
    <p:sldId id="282" r:id="rId21"/>
    <p:sldId id="283" r:id="rId22"/>
    <p:sldId id="284" r:id="rId23"/>
    <p:sldId id="275" r:id="rId24"/>
    <p:sldId id="276" r:id="rId25"/>
    <p:sldId id="277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19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18" autoAdjust="0"/>
    <p:restoredTop sz="94624" autoAdjust="0"/>
  </p:normalViewPr>
  <p:slideViewPr>
    <p:cSldViewPr showGuides="1">
      <p:cViewPr varScale="1">
        <p:scale>
          <a:sx n="82" d="100"/>
          <a:sy n="82" d="100"/>
        </p:scale>
        <p:origin x="1565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sosceles Triangle 6"/>
          <p:cNvSpPr/>
          <p:nvPr/>
        </p:nvSpPr>
        <p:spPr>
          <a:xfrm rot="16200000">
            <a:off x="7554353" y="5254283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540544" y="776288"/>
            <a:ext cx="8062912" cy="1470025"/>
          </a:xfrm>
        </p:spPr>
        <p:txBody>
          <a:bodyPr anchor="b">
            <a:normAutofit/>
          </a:bodyPr>
          <a:lstStyle>
            <a:lvl1pPr algn="r">
              <a:defRPr sz="440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540544" y="2250280"/>
            <a:ext cx="8062912" cy="1752600"/>
          </a:xfrm>
        </p:spPr>
        <p:txBody>
          <a:bodyPr/>
          <a:lstStyle>
            <a:lvl1pPr marL="0" marR="36830" indent="0" algn="r">
              <a:spcBef>
                <a:spcPts val="0"/>
              </a:spcBef>
              <a:buNone/>
              <a:defRPr>
                <a:ln>
                  <a:solidFill>
                    <a:schemeClr val="bg2"/>
                  </a:solidFill>
                </a:ln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1371600" y="6012656"/>
            <a:ext cx="5791200" cy="365125"/>
          </a:xfrm>
        </p:spPr>
        <p:txBody>
          <a:bodyPr tIns="0" bIns="0" anchor="t"/>
          <a:lstStyle>
            <a:lvl1pPr algn="r">
              <a:defRPr sz="1000"/>
            </a:lvl1pPr>
          </a:lstStyle>
          <a:p>
            <a:fld id="{0EC105F2-3522-41C6-8AEA-B0D6B1FACF2D}" type="datetimeFigureOut">
              <a:rPr lang="en-US" smtClean="0"/>
              <a:t>11/20/2025</a:t>
            </a:fld>
            <a:endParaRPr lang="en-IN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1371600" y="5650704"/>
            <a:ext cx="5791200" cy="365125"/>
          </a:xfrm>
        </p:spPr>
        <p:txBody>
          <a:bodyPr tIns="0" bIns="0" anchor="b"/>
          <a:lstStyle>
            <a:lvl1pPr algn="r">
              <a:defRPr sz="1100"/>
            </a:lvl1pPr>
          </a:lstStyle>
          <a:p>
            <a:endParaRPr lang="en-IN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92247" y="5752307"/>
            <a:ext cx="502920" cy="365125"/>
          </a:xfrm>
        </p:spPr>
        <p:txBody>
          <a:bodyPr anchor="ctr"/>
          <a:lstStyle>
            <a:lvl1pPr algn="ctr">
              <a:defRPr sz="1300">
                <a:solidFill>
                  <a:srgbClr val="FFFFFF"/>
                </a:solidFill>
              </a:defRPr>
            </a:lvl1pPr>
          </a:lstStyle>
          <a:p>
            <a:fld id="{48F87B50-12A7-4EA4-9330-324ECAC1286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82808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91456" y="6480048"/>
            <a:ext cx="2133600" cy="301752"/>
          </a:xfrm>
        </p:spPr>
        <p:txBody>
          <a:bodyPr/>
          <a:lstStyle/>
          <a:p>
            <a:fld id="{0EC105F2-3522-41C6-8AEA-B0D6B1FACF2D}" type="datetimeFigureOut">
              <a:rPr lang="en-US" smtClean="0"/>
              <a:t>11/20/2025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083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87B50-12A7-4EA4-9330-324ECAC1286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/>
          <p:cNvSpPr/>
          <p:nvPr/>
        </p:nvSpPr>
        <p:spPr>
          <a:xfrm flipV="1">
            <a:off x="7034" y="7034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914400" rtl="0" eaLnBrk="1" latinLnBrk="0" hangingPunct="1"/>
            <a:endParaRPr kumimoji="0"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Isosceles Triangle 7"/>
          <p:cNvSpPr/>
          <p:nvPr/>
        </p:nvSpPr>
        <p:spPr>
          <a:xfrm rot="5400000" flipV="1">
            <a:off x="7554353" y="309490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955632" y="6477000"/>
            <a:ext cx="2133600" cy="304800"/>
          </a:xfrm>
        </p:spPr>
        <p:txBody>
          <a:bodyPr/>
          <a:lstStyle/>
          <a:p>
            <a:fld id="{0EC105F2-3522-41C6-8AEA-B0D6B1FACF2D}" type="datetimeFigureOut">
              <a:rPr lang="en-US" smtClean="0"/>
              <a:t>11/20/2025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19376" y="6480969"/>
            <a:ext cx="4260056" cy="30083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1056" y="809624"/>
            <a:ext cx="502920" cy="300831"/>
          </a:xfrm>
        </p:spPr>
        <p:txBody>
          <a:bodyPr/>
          <a:lstStyle/>
          <a:p>
            <a:fld id="{48F87B50-12A7-4EA4-9330-324ECAC12869}" type="slidenum">
              <a:rPr lang="en-IN" smtClean="0"/>
              <a:t>‹#›</a:t>
            </a:fld>
            <a:endParaRPr lang="en-IN"/>
          </a:p>
        </p:txBody>
      </p:sp>
      <p:cxnSp>
        <p:nvCxnSpPr>
          <p:cNvPr id="11" name="Straight Connector 10"/>
          <p:cNvCxnSpPr/>
          <p:nvPr/>
        </p:nvCxnSpPr>
        <p:spPr>
          <a:xfrm rot="10800000">
            <a:off x="6468794" y="9381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1464"/>
            <a:ext cx="7239000" cy="1362075"/>
          </a:xfrm>
        </p:spPr>
        <p:txBody>
          <a:bodyPr anchor="ctr"/>
          <a:lstStyle>
            <a:lvl1pPr marL="0" algn="l">
              <a:buNone/>
              <a:defRPr sz="3600" b="1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3886200" cy="2286000"/>
          </a:xfrm>
        </p:spPr>
        <p:txBody>
          <a:bodyPr anchor="t"/>
          <a:lstStyle>
            <a:lvl1pPr marL="5461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algn="l"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0EC105F2-3522-41C6-8AEA-B0D6B1FACF2D}" type="datetimeFigureOut">
              <a:rPr lang="en-US" smtClean="0"/>
              <a:t>11/20/2025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1752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48F87B50-12A7-4EA4-9330-324ECAC1286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198" y="290732"/>
            <a:ext cx="1066800" cy="6153912"/>
          </a:xfrm>
        </p:spPr>
        <p:txBody>
          <a:bodyPr vert="vert270" anchor="b"/>
          <a:lstStyle>
            <a:lvl1pPr marL="0" algn="ctr">
              <a:defRPr sz="3300" b="1">
                <a:ln w="6350">
                  <a:solidFill>
                    <a:schemeClr val="tx1"/>
                  </a:solidFill>
                </a:ln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5006" y="290732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1365006" y="3427124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2022230" y="290732"/>
            <a:ext cx="6858000" cy="301752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22230" y="3427124"/>
            <a:ext cx="6858000" cy="30175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0552" cy="301752"/>
          </a:xfrm>
        </p:spPr>
        <p:txBody>
          <a:bodyPr/>
          <a:lstStyle/>
          <a:p>
            <a:fld id="{0EC105F2-3522-41C6-8AEA-B0D6B1FACF2D}" type="datetimeFigureOut">
              <a:rPr lang="en-US" smtClean="0"/>
              <a:t>11/20/2025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1104" cy="301752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589520" y="6483096"/>
            <a:ext cx="502920" cy="301752"/>
          </a:xfrm>
        </p:spPr>
        <p:txBody>
          <a:bodyPr/>
          <a:lstStyle>
            <a:lvl1pPr algn="ctr">
              <a:defRPr/>
            </a:lvl1pPr>
          </a:lstStyle>
          <a:p>
            <a:fld id="{48F87B50-12A7-4EA4-9330-324ECAC12869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105F2-3522-41C6-8AEA-B0D6B1FACF2D}" type="datetimeFigureOut">
              <a:rPr lang="en-US" smtClean="0"/>
              <a:t>11/20/2025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87B50-12A7-4EA4-9330-324ECAC1286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0EC105F2-3522-41C6-8AEA-B0D6B1FACF2D}" type="datetimeFigureOut">
              <a:rPr lang="en-US" smtClean="0"/>
              <a:t>11/20/2025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57200" y="6481890"/>
            <a:ext cx="4260056" cy="300831"/>
          </a:xfr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48F87B50-12A7-4EA4-9330-324ECAC1286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" y="367664"/>
            <a:ext cx="914400" cy="5943600"/>
          </a:xfrm>
        </p:spPr>
        <p:txBody>
          <a:bodyPr vert="vert270" anchor="b"/>
          <a:lstStyle>
            <a:lvl1pPr marL="0" marR="18415" algn="r">
              <a:spcBef>
                <a:spcPts val="0"/>
              </a:spcBef>
              <a:buNone/>
              <a:defRPr sz="2900" b="0" cap="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135856" y="367664"/>
            <a:ext cx="2438400" cy="5943600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651250" y="320040"/>
            <a:ext cx="5276088" cy="5989320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78976" y="6556248"/>
            <a:ext cx="2133600" cy="301752"/>
          </a:xfrm>
        </p:spPr>
        <p:txBody>
          <a:bodyPr/>
          <a:lstStyle>
            <a:lvl1pPr>
              <a:defRPr sz="900"/>
            </a:lvl1pPr>
          </a:lstStyle>
          <a:p>
            <a:fld id="{0EC105F2-3522-41C6-8AEA-B0D6B1FACF2D}" type="datetimeFigureOut">
              <a:rPr lang="en-US" smtClean="0"/>
              <a:t>11/20/2025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5856" y="6556248"/>
            <a:ext cx="5143120" cy="301752"/>
          </a:xfrm>
        </p:spPr>
        <p:txBody>
          <a:bodyPr/>
          <a:lstStyle>
            <a:lvl1pPr>
              <a:defRPr sz="9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10576" y="6556248"/>
            <a:ext cx="502920" cy="301752"/>
          </a:xfrm>
        </p:spPr>
        <p:txBody>
          <a:bodyPr/>
          <a:lstStyle>
            <a:lvl1pPr>
              <a:defRPr sz="900"/>
            </a:lvl1pPr>
          </a:lstStyle>
          <a:p>
            <a:fld id="{48F87B50-12A7-4EA4-9330-324ECAC12869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" y="150896"/>
            <a:ext cx="914400" cy="6400800"/>
          </a:xfrm>
        </p:spPr>
        <p:txBody>
          <a:bodyPr vert="vert270" anchor="b"/>
          <a:lstStyle>
            <a:lvl1pPr marL="0" algn="l">
              <a:buNone/>
              <a:defRPr sz="3000" b="0" cap="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38237" y="373966"/>
            <a:ext cx="7333488" cy="5486400"/>
          </a:xfrm>
          <a:solidFill>
            <a:schemeClr val="bg2">
              <a:shade val="5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5867400"/>
            <a:ext cx="7333488" cy="685800"/>
          </a:xfrm>
          <a:solidFill>
            <a:schemeClr val="accent1">
              <a:alpha val="15000"/>
            </a:schemeClr>
          </a:solidFill>
          <a:ln>
            <a:solidFill>
              <a:schemeClr val="accent1"/>
            </a:solidFill>
            <a:miter lim="800000"/>
          </a:ln>
        </p:spPr>
        <p:txBody>
          <a:bodyPr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108192" y="6556248"/>
            <a:ext cx="2103120" cy="301752"/>
          </a:xfrm>
        </p:spPr>
        <p:txBody>
          <a:bodyPr/>
          <a:lstStyle>
            <a:lvl1pPr>
              <a:defRPr sz="900"/>
            </a:lvl1pPr>
          </a:lstStyle>
          <a:p>
            <a:fld id="{0EC105F2-3522-41C6-8AEA-B0D6B1FACF2D}" type="datetimeFigureOut">
              <a:rPr lang="en-US" smtClean="0"/>
              <a:t>11/20/2025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70432" y="6557169"/>
            <a:ext cx="4948072" cy="301752"/>
          </a:xfrm>
        </p:spPr>
        <p:txBody>
          <a:bodyPr/>
          <a:lstStyle>
            <a:lvl1pPr>
              <a:defRPr sz="9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217192" y="6556248"/>
            <a:ext cx="365760" cy="301752"/>
          </a:xfrm>
        </p:spPr>
        <p:txBody>
          <a:bodyPr/>
          <a:lstStyle>
            <a:lvl1pPr algn="ctr">
              <a:defRPr sz="900"/>
            </a:lvl1pPr>
          </a:lstStyle>
          <a:p>
            <a:fld id="{48F87B50-12A7-4EA4-9330-324ECAC12869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105F2-3522-41C6-8AEA-B0D6B1FACF2D}" type="datetimeFigureOut">
              <a:rPr lang="en-US" smtClean="0"/>
              <a:t>11/20/2025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87B50-12A7-4EA4-9330-324ECAC1286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381000"/>
            <a:ext cx="1905000" cy="5486400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105F2-3522-41C6-8AEA-B0D6B1FACF2D}" type="datetimeFigureOut">
              <a:rPr lang="en-US" smtClean="0"/>
              <a:t>11/20/2025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87B50-12A7-4EA4-9330-324ECAC1286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105F2-3522-41C6-8AEA-B0D6B1FACF2D}" type="datetimeFigureOut">
              <a:rPr lang="en-US" smtClean="0"/>
              <a:t>11/20/2025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87B50-12A7-4EA4-9330-324ECAC1286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ight Triangle 10"/>
          <p:cNvSpPr/>
          <p:nvPr/>
        </p:nvSpPr>
        <p:spPr>
          <a:xfrm>
            <a:off x="7034" y="14068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rot="10800000" flipV="1">
            <a:off x="6468794" y="4948410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882808"/>
            <a:ext cx="8229600" cy="4572000"/>
          </a:xfrm>
          <a:prstGeom prst="rect">
            <a:avLst/>
          </a:prstGeom>
        </p:spPr>
        <p:txBody>
          <a:bodyPr vert="horz" anchor="t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791456" y="6480969"/>
            <a:ext cx="2133600" cy="301752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fld id="{0EC105F2-3522-41C6-8AEA-B0D6B1FACF2D}" type="datetimeFigureOut">
              <a:rPr lang="en-US" smtClean="0"/>
              <a:t>11/20/2025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7200" y="6481890"/>
            <a:ext cx="4260056" cy="300831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589520" y="6480969"/>
            <a:ext cx="502920" cy="301752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48F87B50-12A7-4EA4-9330-324ECAC12869}" type="slidenum">
              <a:rPr lang="en-IN" smtClean="0"/>
              <a:t>‹#›</a:t>
            </a:fld>
            <a:endParaRPr lang="en-IN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marL="484505" algn="l" rtl="0" eaLnBrk="1" latinLnBrk="0" hangingPunct="1">
        <a:spcBef>
          <a:spcPct val="0"/>
        </a:spcBef>
        <a:buNone/>
        <a:defRPr kumimoji="0" sz="4200" kern="1200">
          <a:ln w="6350">
            <a:solidFill>
              <a:schemeClr val="accent1">
                <a:shade val="43000"/>
              </a:schemeClr>
            </a:solidFill>
          </a:ln>
          <a:solidFill>
            <a:schemeClr val="accent1">
              <a:tint val="83000"/>
              <a:satMod val="150000"/>
            </a:schemeClr>
          </a:solidFill>
          <a:effectLst>
            <a:outerShdw blurRad="26000" dist="26000" dir="145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448310" indent="-384175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 panose="05020102010507070707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85750" algn="l" rtl="0" eaLnBrk="1" latinLnBrk="0" hangingPunct="1">
        <a:spcBef>
          <a:spcPct val="20000"/>
        </a:spcBef>
        <a:buClr>
          <a:schemeClr val="accent1"/>
        </a:buClr>
        <a:buSzPct val="95000"/>
        <a:buFont typeface="Verdana" panose="020B0604030504040204"/>
        <a:buChar char="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06170" indent="-228600" algn="l" rtl="0" eaLnBrk="1" latinLnBrk="0" hangingPunct="1">
        <a:spcBef>
          <a:spcPct val="20000"/>
        </a:spcBef>
        <a:buClr>
          <a:schemeClr val="accent1"/>
        </a:buClr>
        <a:buFont typeface="Wingdings 2" panose="05020102010507070707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10185" algn="l" rtl="0" eaLnBrk="1" latinLnBrk="0" hangingPunct="1">
        <a:spcBef>
          <a:spcPct val="20000"/>
        </a:spcBef>
        <a:buClr>
          <a:schemeClr val="accent1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10185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 panose="05020102010507070707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10185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 panose="05020102010507070707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084705" indent="-210185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 panose="05020102010507070707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 panose="05020102010507070707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146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 panose="05020102010507070707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3618F9-9267-B26F-F204-0E1A9D9830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544" y="1412776"/>
            <a:ext cx="8062912" cy="3960440"/>
          </a:xfrm>
        </p:spPr>
        <p:txBody>
          <a:bodyPr/>
          <a:lstStyle/>
          <a:p>
            <a:pPr algn="ctr"/>
            <a:r>
              <a:rPr lang="en-US" sz="3600" b="1" dirty="0">
                <a:solidFill>
                  <a:srgbClr val="FF197C"/>
                </a:solidFill>
              </a:rPr>
              <a:t>HANDWRITTEN DIGIT RECOGNITION USING DEEP LEARNING</a:t>
            </a:r>
          </a:p>
          <a:p>
            <a:pPr algn="ctr"/>
            <a:endParaRPr lang="en-US" sz="3600" b="1" dirty="0">
              <a:solidFill>
                <a:srgbClr val="FF197C"/>
              </a:solidFill>
            </a:endParaRPr>
          </a:p>
          <a:p>
            <a:pPr algn="ctr"/>
            <a:r>
              <a:rPr lang="en-US" sz="3400" b="1" dirty="0">
                <a:solidFill>
                  <a:srgbClr val="00B0F0"/>
                </a:solidFill>
              </a:rPr>
              <a:t>NAME: </a:t>
            </a:r>
            <a:r>
              <a:rPr lang="en-US" sz="3400" b="1" dirty="0" err="1">
                <a:solidFill>
                  <a:srgbClr val="00B0F0"/>
                </a:solidFill>
              </a:rPr>
              <a:t>Dineshkumar</a:t>
            </a:r>
            <a:r>
              <a:rPr lang="en-US" sz="3400" b="1" dirty="0">
                <a:solidFill>
                  <a:srgbClr val="00B0F0"/>
                </a:solidFill>
              </a:rPr>
              <a:t> J</a:t>
            </a:r>
          </a:p>
          <a:p>
            <a:pPr algn="ctr"/>
            <a:r>
              <a:rPr lang="en-US" sz="3400" b="1" dirty="0">
                <a:solidFill>
                  <a:srgbClr val="00B0F0"/>
                </a:solidFill>
              </a:rPr>
              <a:t>STREAM: Software Engineering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5634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OUTLINE OF PRESENTATIONS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57290" y="1928802"/>
            <a:ext cx="5429288" cy="4357718"/>
          </a:xfrm>
        </p:spPr>
        <p:txBody>
          <a:bodyPr>
            <a:normAutofit lnSpcReduction="10000"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LITERATURE SURVEY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DIAGRAM (USE CASE)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Handwritten digit recognition has emerged as a fundamental benchmark problem in the field of deep learning and computer vision. </a:t>
            </a:r>
          </a:p>
          <a:p>
            <a:pPr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MNIST dataset, comprising 70,000 gray scale images of digits ranging from 0 to 9, has become the standard testing ground for evaluating  learning models. </a:t>
            </a:r>
          </a:p>
          <a:p>
            <a:pPr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Among various approaches, CNNs stand out due to their ability to automatically learn spatial hierarchies of features, such as edges, curves, and shapes, directly from raw pixel data. </a:t>
            </a:r>
          </a:p>
          <a:p>
            <a:pPr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eliminates the need for traditional manual feature extraction and enables models to achieve high levels of accuracy in digit classification.</a:t>
            </a:r>
          </a:p>
          <a:p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Continue...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Beyond serving as a benchmark, handwritten digit recognition demonstrates the broader potential of deep learning in real-world applications. </a:t>
            </a:r>
          </a:p>
          <a:p>
            <a:pPr algn="just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principles used in recognizing digits extend to advanced systems like Optical Character Recognition , license plate detection, and document digitization. </a:t>
            </a:r>
          </a:p>
          <a:p>
            <a:pPr algn="just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applications highlight the robustness and scalability of CNN-based models in handling pattern recognition tasks across diverse domains. </a:t>
            </a:r>
          </a:p>
          <a:p>
            <a:pPr algn="just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Thus, the study of handwritten digit recognition not only validates deep learning techniques but also underscores their transformative role in modern technological solutions.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Despite significant progress in machine learning, accurately recognizing handwritten digits remains a challenging task due to variations in writing styles, shapes, and orientations. 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methods that rely on manual feature extraction often fail to capture these variations effectively, leading to reduced accuracy and limited scalability. 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robust approaches, such as (CNNs), that can automatically learn and generalize features from large datasets like MNIST to achieve reliable digit recognition. 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Addressing this problem is crucial, as it forms the foundation for advanced applications.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7686700" cy="589738"/>
          </a:xfrm>
        </p:spPr>
        <p:txBody>
          <a:bodyPr>
            <a:no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SURVEY: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28596" y="1428736"/>
          <a:ext cx="8229600" cy="4466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4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74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59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5752">
                <a:tc>
                  <a:txBody>
                    <a:bodyPr/>
                    <a:lstStyle/>
                    <a:p>
                      <a:pPr marL="69850">
                        <a:lnSpc>
                          <a:spcPts val="1375"/>
                        </a:lnSpc>
                        <a:spcAft>
                          <a:spcPts val="0"/>
                        </a:spcAft>
                      </a:pPr>
                      <a:r>
                        <a:rPr lang="en-US" sz="1200" b="1" spc="-25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SL.NO</a:t>
                      </a:r>
                      <a:endParaRPr lang="en-IN" sz="11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ts val="1375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AUTHOR+</a:t>
                      </a:r>
                      <a:r>
                        <a:rPr lang="en-US" sz="1200" b="1" spc="-1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TITLE</a:t>
                      </a:r>
                      <a:endParaRPr lang="en-IN" sz="11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ts val="1375"/>
                        </a:lnSpc>
                        <a:spcAft>
                          <a:spcPts val="0"/>
                        </a:spcAft>
                      </a:pPr>
                      <a:r>
                        <a:rPr lang="en-US" sz="1200" b="1" spc="-1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METHODOLOGY</a:t>
                      </a:r>
                      <a:endParaRPr lang="en-IN" sz="11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ts val="1375"/>
                        </a:lnSpc>
                        <a:spcAft>
                          <a:spcPts val="0"/>
                        </a:spcAft>
                      </a:pPr>
                      <a:r>
                        <a:rPr lang="en-US" sz="1200" b="1" spc="-1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MERITS</a:t>
                      </a:r>
                      <a:endParaRPr lang="en-IN" sz="11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ts val="1375"/>
                        </a:lnSpc>
                        <a:spcAft>
                          <a:spcPts val="0"/>
                        </a:spcAft>
                      </a:pPr>
                      <a:r>
                        <a:rPr lang="en-US" sz="1200" b="1" spc="-1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DEMERITS</a:t>
                      </a:r>
                      <a:endParaRPr lang="en-IN" sz="11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5920">
                <a:tc>
                  <a:txBody>
                    <a:bodyPr/>
                    <a:lstStyle/>
                    <a:p>
                      <a:pPr marL="67945"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sz="1200" b="1" spc="-25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lang="en-IN" sz="11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R. </a:t>
                      </a:r>
                      <a:r>
                        <a:rPr lang="en-US" sz="1100" dirty="0" err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Sethi</a:t>
                      </a:r>
                      <a:r>
                        <a:rPr lang="en-US" sz="110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&amp; I. </a:t>
                      </a:r>
                      <a:r>
                        <a:rPr lang="en-US" sz="1100" dirty="0" err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Kaushik</a:t>
                      </a:r>
                      <a:r>
                        <a:rPr lang="en-US" sz="110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(2020), Hand Written Digit Recognition using Machine Learning</a:t>
                      </a:r>
                      <a:endParaRPr lang="en-IN" sz="11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ML techniques (e.g., ANN, SVM, KNN) on MNIST dataset.</a:t>
                      </a:r>
                      <a:endParaRPr lang="en-IN" sz="11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Simple implementation, interpretable models.</a:t>
                      </a:r>
                      <a:endParaRPr lang="en-IN" sz="11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Lower accuracy than deep learning; manual feature extraction needed.</a:t>
                      </a:r>
                      <a:endParaRPr lang="en-IN" sz="11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5920">
                <a:tc>
                  <a:txBody>
                    <a:bodyPr/>
                    <a:lstStyle/>
                    <a:p>
                      <a:pPr marL="67945"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sz="1200" b="1" spc="-25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lang="en-IN" sz="11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A. Shrivastava et al. (2019), Handwritten Digit Recognition Using Machine Learning: A Review</a:t>
                      </a:r>
                      <a:endParaRPr lang="en-IN" sz="11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Comparative review of ML and DL approaches.</a:t>
                      </a:r>
                      <a:endParaRPr lang="en-IN" sz="11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Broad survey; shows strengths/weaknesses across methods.</a:t>
                      </a:r>
                      <a:endParaRPr lang="en-IN" sz="11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No new implementation; lacks experimental validation.</a:t>
                      </a:r>
                      <a:endParaRPr lang="en-IN" sz="11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7280">
                <a:tc>
                  <a:txBody>
                    <a:bodyPr/>
                    <a:lstStyle/>
                    <a:p>
                      <a:pPr marL="67945"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sz="1200" b="1" spc="-25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lang="en-IN" sz="11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J. Li et al. (2020), Handwritten Digit Recognition System Based on CNN</a:t>
                      </a:r>
                      <a:endParaRPr lang="en-IN" sz="11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CNN architecture applied on MNIST dataset.</a:t>
                      </a:r>
                      <a:endParaRPr lang="en-IN" sz="11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High accuracy; automatic feature extraction.</a:t>
                      </a:r>
                      <a:endParaRPr lang="en-IN" sz="11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Computationally expensive; needs large dataset.</a:t>
                      </a:r>
                      <a:endParaRPr lang="en-IN" sz="11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5920">
                <a:tc>
                  <a:txBody>
                    <a:bodyPr/>
                    <a:lstStyle/>
                    <a:p>
                      <a:pPr marL="67945"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sz="1200" b="1" spc="-25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4</a:t>
                      </a:r>
                      <a:endParaRPr lang="en-IN" sz="11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Y. Hou &amp; H. Zhao (2017), Handwritten digit recognition based on depth neural network</a:t>
                      </a:r>
                      <a:endParaRPr lang="en-IN" sz="11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Deep Neural Network (DNN) approach.</a:t>
                      </a:r>
                      <a:endParaRPr lang="en-IN" sz="11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Better accuracy than shallow models; robust learning.</a:t>
                      </a:r>
                      <a:endParaRPr lang="en-IN" sz="11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Requires more training data; overfitting possible.</a:t>
                      </a:r>
                      <a:endParaRPr lang="en-IN" sz="11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95920">
                <a:tc>
                  <a:txBody>
                    <a:bodyPr/>
                    <a:lstStyle/>
                    <a:p>
                      <a:pPr marL="67945"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sz="1200" b="1" spc="-25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lang="en-IN" sz="11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M. Jain et al. (2021), Handwritten Digit Recognition Using CNN</a:t>
                      </a:r>
                      <a:endParaRPr lang="en-IN" sz="11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CNN with TensorFlow implementation.</a:t>
                      </a:r>
                      <a:endParaRPr lang="en-IN" sz="11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Very high accuracy on MNIST; scalable to other datasets.</a:t>
                      </a:r>
                      <a:endParaRPr lang="en-IN" sz="11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Training time is long; hardware (GPU) dependency.</a:t>
                      </a:r>
                      <a:endParaRPr lang="en-IN" sz="11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946928"/>
          </a:xfrm>
        </p:spPr>
        <p:txBody>
          <a:bodyPr/>
          <a:lstStyle/>
          <a:p>
            <a:pPr algn="ctr"/>
            <a:r>
              <a:rPr lang="en-IN" dirty="0"/>
              <a:t>Continue..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500173"/>
          <a:ext cx="8229600" cy="4000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86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3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7838">
                <a:tc>
                  <a:txBody>
                    <a:bodyPr/>
                    <a:lstStyle/>
                    <a:p>
                      <a:pPr marL="69850">
                        <a:lnSpc>
                          <a:spcPts val="1375"/>
                        </a:lnSpc>
                        <a:spcAft>
                          <a:spcPts val="0"/>
                        </a:spcAft>
                      </a:pPr>
                      <a:r>
                        <a:rPr lang="en-US" sz="1200" b="1" spc="-25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SL.NO</a:t>
                      </a:r>
                      <a:endParaRPr lang="en-IN" sz="11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ts val="1375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AUTHOR+</a:t>
                      </a:r>
                      <a:r>
                        <a:rPr lang="en-US" sz="1200" b="1" spc="-1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TITLE</a:t>
                      </a:r>
                      <a:endParaRPr lang="en-IN" sz="11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ts val="1375"/>
                        </a:lnSpc>
                        <a:spcAft>
                          <a:spcPts val="0"/>
                        </a:spcAft>
                      </a:pPr>
                      <a:r>
                        <a:rPr lang="en-US" sz="1200" b="1" spc="-1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METHODOLOGY</a:t>
                      </a:r>
                      <a:endParaRPr lang="en-IN" sz="11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ts val="1375"/>
                        </a:lnSpc>
                        <a:spcAft>
                          <a:spcPts val="0"/>
                        </a:spcAft>
                      </a:pPr>
                      <a:r>
                        <a:rPr lang="en-US" sz="1200" b="1" spc="-1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MERITS</a:t>
                      </a:r>
                      <a:endParaRPr lang="en-IN" sz="11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ts val="1375"/>
                        </a:lnSpc>
                        <a:spcAft>
                          <a:spcPts val="0"/>
                        </a:spcAft>
                      </a:pPr>
                      <a:r>
                        <a:rPr lang="en-US" sz="1200" b="1" spc="-1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DEMERITS</a:t>
                      </a:r>
                      <a:endParaRPr lang="en-IN" sz="11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0672">
                <a:tc>
                  <a:txBody>
                    <a:bodyPr/>
                    <a:lstStyle/>
                    <a:p>
                      <a:pPr marL="67945"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sz="1200" b="1" spc="-25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6</a:t>
                      </a:r>
                      <a:endParaRPr lang="en-IN" sz="11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F. Siddique et al. (2019), Recognition of Handwritten Digit using CNN in Python with TensorFlow</a:t>
                      </a:r>
                      <a:endParaRPr lang="en-IN" sz="11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CNN with different hidden layers compared.</a:t>
                      </a:r>
                      <a:endParaRPr lang="en-IN" sz="11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Performance comparison; optimized hidden layer selection.</a:t>
                      </a:r>
                      <a:endParaRPr lang="en-IN" sz="11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More layers → higher complexity; risk of </a:t>
                      </a:r>
                      <a:r>
                        <a:rPr lang="en-US" sz="1100" dirty="0" err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overfitting</a:t>
                      </a:r>
                      <a:r>
                        <a:rPr lang="en-US" sz="110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.</a:t>
                      </a:r>
                      <a:endParaRPr lang="en-IN" sz="11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3781">
                <a:tc>
                  <a:txBody>
                    <a:bodyPr/>
                    <a:lstStyle/>
                    <a:p>
                      <a:pPr marL="67945"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sz="1200" b="1" spc="-25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7</a:t>
                      </a:r>
                      <a:endParaRPr lang="en-IN" sz="11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P. Ma (2020), Recognition of Handwritten Digit Using CNN</a:t>
                      </a:r>
                      <a:endParaRPr lang="en-IN" sz="11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CNN implementation with deeper layers.</a:t>
                      </a:r>
                      <a:endParaRPr lang="en-IN" sz="11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Strong generalization; reliable recognition.</a:t>
                      </a:r>
                      <a:endParaRPr lang="en-IN" sz="11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Higher computation; memory intensive.</a:t>
                      </a:r>
                      <a:endParaRPr lang="en-IN" sz="11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3781">
                <a:tc>
                  <a:txBody>
                    <a:bodyPr/>
                    <a:lstStyle/>
                    <a:p>
                      <a:pPr marL="67945"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sz="1200" b="1" spc="-25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8</a:t>
                      </a:r>
                      <a:endParaRPr lang="en-IN" sz="11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C. Zhang et al. (2020), Handwritten Digit Recognition Based on CNN</a:t>
                      </a:r>
                      <a:endParaRPr lang="en-IN" sz="11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CNN model tested in Chinese automation context.</a:t>
                      </a:r>
                      <a:endParaRPr lang="en-IN" sz="11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High recognition rate; adaptable.</a:t>
                      </a:r>
                      <a:endParaRPr lang="en-IN" sz="11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Model tuning complexity; requires expertise.</a:t>
                      </a:r>
                      <a:endParaRPr lang="en-IN" sz="11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3781">
                <a:tc>
                  <a:txBody>
                    <a:bodyPr/>
                    <a:lstStyle/>
                    <a:p>
                      <a:pPr marL="67945"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sz="1200" b="1" spc="-25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9</a:t>
                      </a:r>
                      <a:endParaRPr lang="en-IN" sz="11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K. T. Islam et al. (2017), Handwritten digits recognition with ANN</a:t>
                      </a:r>
                      <a:endParaRPr lang="en-IN" sz="11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ANN with backpropagation.</a:t>
                      </a:r>
                      <a:endParaRPr lang="en-IN" sz="11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Simpler than CNN; requires less computation.</a:t>
                      </a:r>
                      <a:endParaRPr lang="en-IN" sz="11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Accuracy lower than CNN; limited feature extraction.</a:t>
                      </a:r>
                      <a:endParaRPr lang="en-IN" sz="11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90672">
                <a:tc>
                  <a:txBody>
                    <a:bodyPr/>
                    <a:lstStyle/>
                    <a:p>
                      <a:pPr marL="67945"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sz="1200" b="1" spc="-25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10</a:t>
                      </a:r>
                      <a:endParaRPr lang="en-IN" sz="11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D. Beohar &amp; A. Rasool (2021), Handwritten Digit Recognition using ANN &amp; CNN</a:t>
                      </a:r>
                      <a:endParaRPr lang="en-IN" sz="11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Compared ANN </a:t>
                      </a:r>
                      <a:r>
                        <a:rPr lang="en-US" sz="1100" dirty="0" err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vs</a:t>
                      </a:r>
                      <a:r>
                        <a:rPr lang="en-US" sz="110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CNN on MNIST.</a:t>
                      </a:r>
                      <a:endParaRPr lang="en-IN" sz="11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CNN clearly outperforms ANN; state-of-art validation.</a:t>
                      </a:r>
                      <a:endParaRPr lang="en-IN" sz="11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ANN underperforms; CNN is resource-demanding.</a:t>
                      </a:r>
                      <a:endParaRPr lang="en-IN" sz="11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732614"/>
          </a:xfrm>
        </p:spPr>
        <p:txBody>
          <a:bodyPr/>
          <a:lstStyle/>
          <a:p>
            <a:pPr algn="ctr"/>
            <a:r>
              <a:rPr lang="en-IN" dirty="0"/>
              <a:t>Continue..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28596" y="1242233"/>
          <a:ext cx="8229600" cy="50084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86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3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696">
                <a:tc>
                  <a:txBody>
                    <a:bodyPr/>
                    <a:lstStyle/>
                    <a:p>
                      <a:pPr marL="69850">
                        <a:lnSpc>
                          <a:spcPts val="1375"/>
                        </a:lnSpc>
                        <a:spcAft>
                          <a:spcPts val="0"/>
                        </a:spcAft>
                      </a:pPr>
                      <a:r>
                        <a:rPr lang="en-US" sz="1200" b="1" spc="-25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SL.NO</a:t>
                      </a:r>
                      <a:endParaRPr lang="en-IN" sz="11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ts val="1375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AUTHOR+</a:t>
                      </a:r>
                      <a:r>
                        <a:rPr lang="en-US" sz="1200" b="1" spc="-1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TITLE</a:t>
                      </a:r>
                      <a:endParaRPr lang="en-IN" sz="11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ts val="1375"/>
                        </a:lnSpc>
                        <a:spcAft>
                          <a:spcPts val="0"/>
                        </a:spcAft>
                      </a:pPr>
                      <a:r>
                        <a:rPr lang="en-US" sz="1200" b="1" spc="-1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METHODOLOGY</a:t>
                      </a:r>
                      <a:endParaRPr lang="en-IN" sz="11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ts val="1375"/>
                        </a:lnSpc>
                        <a:spcAft>
                          <a:spcPts val="0"/>
                        </a:spcAft>
                      </a:pPr>
                      <a:r>
                        <a:rPr lang="en-US" sz="1200" b="1" spc="-1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MERITS</a:t>
                      </a:r>
                      <a:endParaRPr lang="en-IN" sz="11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ts val="1375"/>
                        </a:lnSpc>
                        <a:spcAft>
                          <a:spcPts val="0"/>
                        </a:spcAft>
                      </a:pPr>
                      <a:r>
                        <a:rPr lang="en-US" sz="1200" b="1" spc="-1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DEMERITS</a:t>
                      </a:r>
                      <a:endParaRPr lang="en-IN" sz="11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5578">
                <a:tc>
                  <a:txBody>
                    <a:bodyPr/>
                    <a:lstStyle/>
                    <a:p>
                      <a:pPr marL="67945"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sz="1200" b="1" spc="-25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11</a:t>
                      </a:r>
                      <a:endParaRPr lang="en-IN" sz="11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R. Sethi &amp; I. Kaushik (2020), Hand Written Digit Recognition using Machine Learning</a:t>
                      </a:r>
                      <a:endParaRPr lang="en-IN" sz="11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ML techniques (ANN, SVM, KNN) on MNIST dataset.</a:t>
                      </a:r>
                      <a:endParaRPr lang="en-IN" sz="11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Simple implementation, interpretable models.</a:t>
                      </a:r>
                      <a:endParaRPr lang="en-IN" sz="11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Lower accuracy than deep learning; manual feature extraction needed.</a:t>
                      </a:r>
                      <a:endParaRPr lang="en-IN" sz="11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5578">
                <a:tc>
                  <a:txBody>
                    <a:bodyPr/>
                    <a:lstStyle/>
                    <a:p>
                      <a:pPr marL="67945"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sz="1200" b="1" spc="-25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12</a:t>
                      </a:r>
                      <a:endParaRPr lang="en-IN" sz="11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Graves &amp; Schmidhuber (2009), Offline handwriting recognition with multidimensional RNNs</a:t>
                      </a:r>
                      <a:endParaRPr lang="en-IN" sz="11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Multidimensional Recurrent Neural Networks (MDRNNs) for sequence modeling.</a:t>
                      </a:r>
                      <a:endParaRPr lang="en-IN" sz="11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Captures spatial and temporal dependencies effectively.</a:t>
                      </a:r>
                      <a:endParaRPr lang="en-IN" sz="11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High computational cost; complex training.</a:t>
                      </a:r>
                      <a:endParaRPr lang="en-IN" sz="11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4777">
                <a:tc>
                  <a:txBody>
                    <a:bodyPr/>
                    <a:lstStyle/>
                    <a:p>
                      <a:pPr marL="67945"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sz="1200" b="1" spc="-25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13</a:t>
                      </a:r>
                      <a:endParaRPr lang="en-IN" sz="11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Wan et al. (2013), Regularization of neural networks using DropConnect</a:t>
                      </a:r>
                      <a:endParaRPr lang="en-IN" sz="11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Introduced DropConnect regularization technique for neural networks.</a:t>
                      </a:r>
                      <a:endParaRPr lang="en-IN" sz="11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Improves generalization; reduces overfitting.</a:t>
                      </a:r>
                      <a:endParaRPr lang="en-IN" sz="11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Training slower; requires more resources.</a:t>
                      </a:r>
                      <a:endParaRPr lang="en-IN" sz="11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5578">
                <a:tc>
                  <a:txBody>
                    <a:bodyPr/>
                    <a:lstStyle/>
                    <a:p>
                      <a:pPr marL="67945"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sz="1200" b="1" spc="-25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14</a:t>
                      </a:r>
                      <a:endParaRPr lang="en-IN" sz="11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Ciresan et al. (2012), Deep neural networks segment neuronal membranes in microscopy images</a:t>
                      </a:r>
                      <a:endParaRPr lang="en-IN" sz="11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Deep CNNs applied to image segmentation tasks.</a:t>
                      </a:r>
                      <a:endParaRPr lang="en-IN" sz="11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Proved deep networks' power in vision tasks; transferable to digit recognition.</a:t>
                      </a:r>
                      <a:endParaRPr lang="en-IN" sz="11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Needs large labeled datasets; computationally expensive.</a:t>
                      </a:r>
                      <a:endParaRPr lang="en-IN" sz="11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26378">
                <a:tc>
                  <a:txBody>
                    <a:bodyPr/>
                    <a:lstStyle/>
                    <a:p>
                      <a:pPr marL="67945"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sz="1200" b="1" spc="-25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15</a:t>
                      </a:r>
                      <a:endParaRPr lang="en-IN" sz="11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I. Patel, V. Jagtap &amp; O. Kale (2015), A Survey on Feature Extraction Methods for Handwritten Digits Recognition</a:t>
                      </a:r>
                      <a:endParaRPr lang="en-IN" sz="11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Survey of feature extraction techniques (PCA, LDA, Gabor filters, etc.).</a:t>
                      </a:r>
                      <a:endParaRPr lang="en-IN" sz="11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Comprehensive review; highlights advantages of classical methods.</a:t>
                      </a:r>
                      <a:endParaRPr lang="en-IN" sz="11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No experimental validation; lacks modern deep learning perspective.</a:t>
                      </a:r>
                      <a:endParaRPr lang="en-IN" sz="11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LITERATURE SURVEY: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Neural Networks (CNNs) have emerged as the most effective approach for handwritten digit recognition, offering high accuracy through automatic feature extraction. </a:t>
            </a:r>
          </a:p>
          <a:p>
            <a:pPr algn="just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early ML models provided simplicity, they lagged behind in performance compared to deep learning. </a:t>
            </a:r>
          </a:p>
          <a:p>
            <a:pPr algn="just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as deeper CNNs, RNNs, and regularization techniques further enhance recognition but demand greater computational resources.</a:t>
            </a:r>
          </a:p>
          <a:p>
            <a:pPr algn="just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Overall, the field has evolved from manual feature engineering to deep learning, establishing CNN-based models as the state-of-the-art solution.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train and evaluate the model on the MNIST dataset for accurate digit classification.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 eliminate the need for manual feature extraction by leveraging CNN’s automatic feature learning capabilities.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 demonstrate the generalization ability of the model for handling variations in handwriting styles and shapes.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 explore the applicability of the approach in real-world domains such as OCR, license plate recognition, and document digitization.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lvl="0" algn="just">
              <a:buNone/>
            </a:pPr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Acquisition:  </a:t>
            </a:r>
          </a:p>
          <a:p>
            <a:pPr lvl="0" algn="just"/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MNIST dataset is used, containing 70,000 </a:t>
            </a:r>
            <a:r>
              <a:rPr lang="en-IN" sz="3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grayscale</a:t>
            </a:r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images of handwritten digits (60,000 for training and 10,000 for testing), each of size 28×28 pixels.</a:t>
            </a:r>
          </a:p>
          <a:p>
            <a:pPr lvl="0" algn="just">
              <a:buNone/>
            </a:pPr>
            <a:endParaRPr lang="en-IN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buNone/>
            </a:pPr>
            <a:r>
              <a:rPr lang="en-IN" sz="3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Pre-processing:</a:t>
            </a:r>
          </a:p>
          <a:p>
            <a:pPr lvl="0" algn="just"/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Pixel values are normalized to the range [0,1] to enhance training efficiency. Images are reshaped into 28×28×1 format to match CNN input requirements.</a:t>
            </a:r>
          </a:p>
          <a:p>
            <a:pPr lvl="0" algn="just"/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Optional augmentation (rotation, scaling, shifting) can be applied to increase data variability.</a:t>
            </a:r>
          </a:p>
          <a:p>
            <a:pPr lvl="0" algn="just">
              <a:buNone/>
            </a:pPr>
            <a:endParaRPr lang="en-IN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buNone/>
            </a:pPr>
            <a:r>
              <a:rPr lang="en-IN" sz="3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 using CNN Layers:</a:t>
            </a:r>
            <a:endParaRPr lang="en-IN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 Layers automatically learn spatial features such as edges, curves, and digit strokes using filters.</a:t>
            </a:r>
          </a:p>
          <a:p>
            <a:pPr lvl="0" algn="just"/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Activation Function (</a:t>
            </a:r>
            <a:r>
              <a:rPr lang="en-IN" sz="3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introduces non-linearity, improving feature learning capability.</a:t>
            </a:r>
          </a:p>
          <a:p>
            <a:pPr lvl="0" algn="just"/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Pooling Layers (</a:t>
            </a:r>
            <a:r>
              <a:rPr lang="en-IN" sz="3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MaxPooling</a:t>
            </a:r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reduce feature map size, control </a:t>
            </a:r>
            <a:r>
              <a:rPr lang="en-IN" sz="3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overfitting</a:t>
            </a:r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retain dominant patterns.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089804"/>
          </a:xfrm>
        </p:spPr>
        <p:txBody>
          <a:bodyPr/>
          <a:lstStyle/>
          <a:p>
            <a:pPr algn="ctr"/>
            <a:r>
              <a:rPr lang="en-IN" dirty="0"/>
              <a:t>Continue..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71612"/>
            <a:ext cx="8229600" cy="4883196"/>
          </a:xfrm>
        </p:spPr>
        <p:txBody>
          <a:bodyPr>
            <a:normAutofit fontScale="62500" lnSpcReduction="20000"/>
          </a:bodyPr>
          <a:lstStyle/>
          <a:p>
            <a:pPr lvl="0" algn="just">
              <a:buNone/>
            </a:pPr>
            <a:r>
              <a:rPr lang="en-IN" sz="3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Flattening:</a:t>
            </a:r>
            <a:endParaRPr lang="en-IN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2D feature maps are converted into a 1D vector to prepare for fully connected layers.</a:t>
            </a:r>
          </a:p>
          <a:p>
            <a:pPr lvl="0" algn="just">
              <a:buNone/>
            </a:pPr>
            <a:endParaRPr lang="en-IN" sz="3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buNone/>
            </a:pPr>
            <a:r>
              <a:rPr lang="en-IN" sz="3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using Fully Connected Layers:</a:t>
            </a:r>
            <a:endParaRPr lang="en-IN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 layers learn higher-level representations of digit patterns.</a:t>
            </a:r>
          </a:p>
          <a:p>
            <a:pPr lvl="0" algn="just"/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output layer uses the </a:t>
            </a:r>
            <a:r>
              <a:rPr lang="en-IN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activation function to assign probability scores across 10 classes (digits 0–9).</a:t>
            </a:r>
          </a:p>
          <a:p>
            <a:pPr algn="just">
              <a:buNone/>
            </a:pPr>
            <a:endParaRPr lang="en-IN" sz="3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IN" sz="3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Training:</a:t>
            </a:r>
            <a:endParaRPr lang="en-IN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is trained using the training dataset with an optimizer such as Adam and loss function categorical cross-entropy.</a:t>
            </a:r>
          </a:p>
          <a:p>
            <a:pPr lvl="0" algn="just"/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epochs are run, and model parameters (weights) are updated to minimize loss.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dirty="0"/>
              <a:t>Continue..</a:t>
            </a:r>
            <a:endParaRPr lang="en-IN" dirty="0"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buNone/>
            </a:pPr>
            <a:r>
              <a:rPr lang="en-IN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trained CNN is evaluated on the test dataset to measure accuracy, precision, recall, and F1-score.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Typically, CNN models achieve 98–99% accuracy on the MNIST dataset.</a:t>
            </a:r>
          </a:p>
          <a:p>
            <a:pPr lvl="0">
              <a:buNone/>
            </a:pPr>
            <a:endParaRPr lang="en-IN"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None/>
            </a:pPr>
            <a:r>
              <a:rPr lang="en-IN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Phase: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unseen input images, the trained model predicts the corresponding digit by selecting the class with the highest probability.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IN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Requirements:</a:t>
            </a:r>
          </a:p>
          <a:p>
            <a:pPr lvl="0" algn="just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Input &amp; Pre processing – The system must accept handwritten digit images (from MNIST or user input), normalize and reshape them for CNN processing.</a:t>
            </a:r>
          </a:p>
          <a:p>
            <a:pPr lvl="0" algn="just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the CNN Model – The system should train on the MNIST dataset, applying convolution, pooling, flattening, and dense layers for feature learning.</a:t>
            </a:r>
          </a:p>
          <a:p>
            <a:pPr lvl="0" algn="just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 Classification – The system must classify input images into one of the 10 classes (digits 0–9) using the trained CNN model.</a:t>
            </a:r>
          </a:p>
          <a:p>
            <a:pPr lvl="0" algn="just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Evaluation – The system should evaluate model performance using metrics such as accuracy, precision, recall, and confusion matrix.</a:t>
            </a:r>
          </a:p>
          <a:p>
            <a:pPr lvl="0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Continue..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</a:t>
            </a:r>
            <a:r>
              <a:rPr lang="en-US" sz="26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FunctionalRequirements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– The CNN model should achieve high accuracy (≥98%) on the MNIST test dataset.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 – The system should be scalable to recognize digits from other datasets (e.g., EMNIST, custom handwriting samples).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Usability – The interface must be simple and user-friendly for non-technical users.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 – The system should minimize training time by utilizing GPU/TPU resources where available.</a:t>
            </a:r>
          </a:p>
          <a:p>
            <a:pPr lvl="0"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UML DIAGRAM (USE CASE):</a:t>
            </a:r>
          </a:p>
        </p:txBody>
      </p:sp>
      <p:pic>
        <p:nvPicPr>
          <p:cNvPr id="4" name="Content Placeholder 3" descr="use case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8819" y="1882775"/>
            <a:ext cx="6026362" cy="4572000"/>
          </a:xfr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DIAGRAM:</a:t>
            </a:r>
          </a:p>
        </p:txBody>
      </p:sp>
      <p:pic>
        <p:nvPicPr>
          <p:cNvPr id="4" name="Content Placeholder 3" descr="capstone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0166" y="1882775"/>
            <a:ext cx="5715041" cy="4572000"/>
          </a:xfr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IMPLEMENTATION:</a:t>
            </a:r>
          </a:p>
        </p:txBody>
      </p:sp>
      <p:pic>
        <p:nvPicPr>
          <p:cNvPr id="16" name="Picture 10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1015" y="1882775"/>
            <a:ext cx="8237855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INPUT IMAGE:</a:t>
            </a:r>
          </a:p>
        </p:txBody>
      </p:sp>
      <p:pic>
        <p:nvPicPr>
          <p:cNvPr id="4" name="Picture 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0745" y="1489710"/>
            <a:ext cx="7806690" cy="49872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OUTPUT: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2125" y="1666875"/>
            <a:ext cx="8119110" cy="46126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TESTING: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581150"/>
            <a:ext cx="8229600" cy="480250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FINAL PREDICTION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3580" y="1882775"/>
            <a:ext cx="785368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 algn="just"/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Sethi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I.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Kaushik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"Hand Written Digit Recognition using Machine Learning," 2020 IEEE 9th International Conference on Communication Systems and Network Technologies (CSNT), 2020, pp. 49-54.</a:t>
            </a: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A.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Shrivastava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I.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Jaggi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Gupta and D. Gupta, "Handwritten Digit Recognition Using Machine Learning: A Review," 2019 2nd International Conference on Power Energy, Environment and Intelligent Control (PEEIC), 2019, pp. 322-326.</a:t>
            </a: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J. Li, G. Sun, L. Yi, Q. Cao, F. Liang and Y. Sun, "Handwritten Digit Recognition System Based on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Neural Network," 2020 IEEE International Conference on Advances in Electrical Engineering and Computer Applications( AEECA), 2020, pp. 739-742.</a:t>
            </a: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Y.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Hou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H. Zhao, "Handwritten digit recognition based on depth neural network," 2017 International Conference on Intelligent Informatics and Biomedical Sciences (ICIIBMS), 2017, pp. 35-38.</a:t>
            </a: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M. Jain, G.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Kaur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P.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Quamar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H. Gupta, "Handwritten Digit Recognition Using CNN," 2021 International Conference on Innovative Practices in Technology and Management (ICIPTM), 2021, pp. 211-215,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10.1109/ICIPTM52218.2021.9388351.</a:t>
            </a:r>
          </a:p>
          <a:p>
            <a:endParaRPr lang="en-IN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161242"/>
          </a:xfrm>
        </p:spPr>
        <p:txBody>
          <a:bodyPr/>
          <a:lstStyle/>
          <a:p>
            <a:pPr algn="ctr"/>
            <a:r>
              <a:rPr lang="en-IN" dirty="0"/>
              <a:t>Continue..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3050"/>
            <a:ext cx="8229600" cy="4811758"/>
          </a:xfrm>
        </p:spPr>
        <p:txBody>
          <a:bodyPr>
            <a:normAutofit fontScale="70000" lnSpcReduction="20000"/>
          </a:bodyPr>
          <a:lstStyle/>
          <a:p>
            <a:pPr lvl="0" algn="just"/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F. </a:t>
            </a:r>
            <a:r>
              <a:rPr lang="en-IN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Siddique</a:t>
            </a: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</a:t>
            </a:r>
            <a:r>
              <a:rPr lang="en-IN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Sakib</a:t>
            </a: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M. A. B. </a:t>
            </a:r>
            <a:r>
              <a:rPr lang="en-IN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Siddique</a:t>
            </a: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"Recognition of Handwritten Digit using </a:t>
            </a:r>
            <a:r>
              <a:rPr lang="en-IN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</a:t>
            </a: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Neural Network in Python with </a:t>
            </a:r>
            <a:r>
              <a:rPr lang="en-IN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Tensorflow</a:t>
            </a: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Comparison of Performance for Various Hidden Layers," 2019 5th International Conference on Advances in Electrical Engineering (ICAEE), 2019, pp. 541-546, </a:t>
            </a:r>
            <a:r>
              <a:rPr lang="en-IN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10.1109/ICAEE48663.2019.8975496. </a:t>
            </a:r>
          </a:p>
          <a:p>
            <a:pPr algn="just"/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Ma, "Recognition of Handwritten Digit Using </a:t>
            </a:r>
            <a:r>
              <a:rPr 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Neural Network," 2020 International Conference on Computing and Data Science (CDS), 2020, pp. 183-190, </a:t>
            </a:r>
            <a:r>
              <a:rPr 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10.1109/CDS49703.2020.00044.</a:t>
            </a:r>
            <a:endParaRPr lang="en-IN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Zhang, Z. Zhou and L. Lin, "Handwritten Digit Recognition Based on </a:t>
            </a:r>
            <a:r>
              <a:rPr lang="en-IN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</a:t>
            </a: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Neural Network," 2020 Chinese Automation Congress (CAC), 2020, pp. 7384-7388, </a:t>
            </a:r>
            <a:r>
              <a:rPr lang="en-IN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10.1109/CAC51589.2020.9326781. </a:t>
            </a:r>
          </a:p>
          <a:p>
            <a:pPr algn="just"/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 T. Islam, G. </a:t>
            </a:r>
            <a:r>
              <a:rPr 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Mujtaba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R. G. Raj and H. F. </a:t>
            </a:r>
            <a:r>
              <a:rPr 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Nweke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"Handwritten digits recognition with artificial neural network," 2017 International Conference on Engineering Technology and </a:t>
            </a:r>
            <a:r>
              <a:rPr 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Technopreneurship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(ICE2T), 2017, pp. 1-4, </a:t>
            </a:r>
            <a:r>
              <a:rPr 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10.1109/ICE2T.2017.8215993.</a:t>
            </a:r>
          </a:p>
          <a:p>
            <a:pPr lvl="0" algn="just"/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Wan, L., </a:t>
            </a:r>
            <a:r>
              <a:rPr 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Zeiler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M., Zhang, S., </a:t>
            </a:r>
            <a:r>
              <a:rPr 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Y. L., &amp; Fergus, R. (2013). Regularization of neural networks using </a:t>
            </a:r>
            <a:r>
              <a:rPr 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dropconnect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Proceedings of the 30th </a:t>
            </a:r>
            <a:r>
              <a:rPr 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Conference on Machine Learning, 1058-1066.</a:t>
            </a:r>
            <a:endParaRPr lang="en-IN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6161902"/>
          </a:xfrm>
        </p:spPr>
        <p:txBody>
          <a:bodyPr>
            <a:normAutofit/>
          </a:bodyPr>
          <a:lstStyle/>
          <a:p>
            <a:pPr algn="ctr"/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SIR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erve">
  <a:themeElements>
    <a:clrScheme name="Verve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Ver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Verve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8000"/>
                <a:satMod val="230000"/>
              </a:schemeClr>
            </a:gs>
            <a:gs pos="60000">
              <a:schemeClr val="phClr">
                <a:shade val="92000"/>
                <a:satMod val="230000"/>
              </a:schemeClr>
            </a:gs>
            <a:gs pos="100000">
              <a:schemeClr val="phClr">
                <a:tint val="85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200"/>
                <a:satMod val="150000"/>
              </a:schemeClr>
              <a:schemeClr val="phClr">
                <a:tint val="90000"/>
                <a:satMod val="150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Verve</Template>
  <TotalTime>5</TotalTime>
  <Words>2150</Words>
  <Application>Microsoft Office PowerPoint</Application>
  <PresentationFormat>On-screen Show (4:3)</PresentationFormat>
  <Paragraphs>198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Century Gothic</vt:lpstr>
      <vt:lpstr>Times New Roman</vt:lpstr>
      <vt:lpstr>Verdana</vt:lpstr>
      <vt:lpstr>Wingdings 2</vt:lpstr>
      <vt:lpstr>Verve</vt:lpstr>
      <vt:lpstr>PowerPoint Presentation</vt:lpstr>
      <vt:lpstr>OUTLINE OF PRESENTATIONS </vt:lpstr>
      <vt:lpstr>INTRODUCTION:</vt:lpstr>
      <vt:lpstr>Continue...</vt:lpstr>
      <vt:lpstr>PROBLEM STATEMENT:</vt:lpstr>
      <vt:lpstr>LITERATURE SURVEY:</vt:lpstr>
      <vt:lpstr>Continue..</vt:lpstr>
      <vt:lpstr>Continue..</vt:lpstr>
      <vt:lpstr>FINDING LITERATURE SURVEY:</vt:lpstr>
      <vt:lpstr>OBJECTIVES:</vt:lpstr>
      <vt:lpstr>METHODOLOGY:</vt:lpstr>
      <vt:lpstr>Continue..</vt:lpstr>
      <vt:lpstr>Continue..</vt:lpstr>
      <vt:lpstr>SOFTWARE REQUIREMENTS:</vt:lpstr>
      <vt:lpstr>Continue..</vt:lpstr>
      <vt:lpstr>UML DIAGRAM (USE CASE):</vt:lpstr>
      <vt:lpstr>CLASS DIAGRAM:</vt:lpstr>
      <vt:lpstr>IMPLEMENTATION:</vt:lpstr>
      <vt:lpstr>INPUT IMAGE:</vt:lpstr>
      <vt:lpstr>OUTPUT:</vt:lpstr>
      <vt:lpstr>TESTING:</vt:lpstr>
      <vt:lpstr>FINAL PREDICTION</vt:lpstr>
      <vt:lpstr>REFERENCES:</vt:lpstr>
      <vt:lpstr>Continue..</vt:lpstr>
      <vt:lpstr>THANK YOU SIR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</dc:title>
  <dc:creator>ADMIN</dc:creator>
  <cp:lastModifiedBy>durga p</cp:lastModifiedBy>
  <cp:revision>11</cp:revision>
  <dcterms:created xsi:type="dcterms:W3CDTF">2025-08-20T15:25:00Z</dcterms:created>
  <dcterms:modified xsi:type="dcterms:W3CDTF">2025-11-20T02:20:51Z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48A6D5743ECA486496F6C76AE63B4E90_12</vt:lpwstr>
  </property>
  <property fmtid="{D5CDD505-2E9C-101B-9397-08002B2CF9AE}" pid="3" name="KSOProductBuildVer">
    <vt:lpwstr>1033-12.2.0.23131</vt:lpwstr>
  </property>
</Properties>
</file>